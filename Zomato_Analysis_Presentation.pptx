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433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28306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159C93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 &amp; Recommendations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51,660 restaurants analyzed</a:t>
            </a:r>
            <a:pPr indent="0" marL="0">
              <a:buNone/>
            </a:pPr>
            <a:r>
              <a:rPr lang="en-US" sz="1300" dirty="0">
                <a:solidFill>
                  <a:srgbClr val="5A6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Matplotlib, Seaborn)</a:t>
            </a:r>
            <a:pPr indent="0" marL="0">
              <a:buNone/>
            </a:pPr>
            <a:r>
              <a:rPr lang="en-US" sz="1300" dirty="0">
                <a:solidFill>
                  <a:srgbClr val="5A6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59C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105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59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159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930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Ratings, Service Features &amp; Geography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159C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342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Cuisine, Pricing &amp; Popularity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159C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75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Bangalore's restaurant market through data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hosts one of India's largest and most competitive restaurant markets. This analysis explores what separates high-rated restaurants from the rest — examining service features, geography, cuisine, and pricing — to generate insight for restaurant owners, aggregator platforms, and investors.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5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874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51,660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55480" y="173736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5F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55480" y="1874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/ 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329184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5F2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Localities Covered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55480" y="329184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5F2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5548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Combinations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233B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listings scrape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(51,717 raw rows, 17 fields)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59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ratings &amp; cost fields, standardized flags, removed duplicates, validated ranges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233B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68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primary cuisine, cuisine count, review count, and restaurant format features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052560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59C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972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468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correlation analysis using pandas, matplotlib, seaborn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reproducible pipeline:  01_clean_data.py  →  02_eda_analysis.py  →  zomato_clean.csv + 12 charts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Cluster Around 3.7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restaurants fall in the 3.3–4.2 'decent to good' band</a:t>
            </a:r>
            <a:endParaRPr lang="en-US" sz="1400" dirty="0"/>
          </a:p>
        </p:txBody>
      </p:sp>
      <p:pic>
        <p:nvPicPr>
          <p:cNvPr id="4" name="Image 0" descr="assets/fig01_rating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766560" cy="4229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7373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5F2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/ 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468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  |   Median: 3.7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356616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 of listings have a numeric rating; the rest are new or unrated.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Is the Strongest Quality Signal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online ordering and table booking against rating</a:t>
            </a:r>
            <a:endParaRPr lang="en-US" sz="1400" dirty="0"/>
          </a:p>
        </p:txBody>
      </p:sp>
      <p:pic>
        <p:nvPicPr>
          <p:cNvPr id="4" name="Image 0" descr="assets/fig02_online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3483864"/>
          </a:xfrm>
          <a:prstGeom prst="rect">
            <a:avLst/>
          </a:prstGeom>
        </p:spPr>
      </p:pic>
      <p:pic>
        <p:nvPicPr>
          <p:cNvPr id="5" name="Image 1" descr="assets/fig03_table_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348386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233B5E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order: </a:t>
            </a:r>
            <a:pPr indent="0" marL="0">
              <a:buNone/>
            </a:pPr>
            <a:r>
              <a:rPr lang="en-US" sz="1500" dirty="0">
                <a:solidFill>
                  <a:srgbClr val="D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 vs 3.66 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 Table booking: </a:t>
            </a:r>
            <a:pPr indent="0" marL="0">
              <a:buNone/>
            </a:pPr>
            <a:r>
              <a:rPr lang="en-US" sz="1500" dirty="0">
                <a:solidFill>
                  <a:srgbClr val="D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4.14 vs 3.62</a:t>
            </a:r>
            <a:pPr indent="0" marL="0">
              <a:buNone/>
            </a:pPr>
            <a:r>
              <a:rPr lang="en-US" sz="15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(only 12.5% of restaurants offer it)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Supply Is Highly Concentrated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 alone hosts 5,114 listings</a:t>
            </a:r>
            <a:endParaRPr lang="en-US" sz="1400" dirty="0"/>
          </a:p>
        </p:txBody>
      </p:sp>
      <p:pic>
        <p:nvPicPr>
          <p:cNvPr id="4" name="Image 0" descr="assets/fig04_top_loca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77840" cy="3721608"/>
          </a:xfrm>
          <a:prstGeom prst="rect">
            <a:avLst/>
          </a:prstGeom>
        </p:spPr>
      </p:pic>
      <p:pic>
        <p:nvPicPr>
          <p:cNvPr id="5" name="Image 1" descr="assets/fig05_top_rated_localit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577840" cy="3721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Leads, But Blended Menus Rate Best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2,723 distinct cuisine combinations found</a:t>
            </a:r>
            <a:endParaRPr lang="en-US" sz="1400" dirty="0"/>
          </a:p>
        </p:txBody>
      </p:sp>
      <p:pic>
        <p:nvPicPr>
          <p:cNvPr id="4" name="Image 0" descr="assets/fig06_top_cuis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77840" cy="3721608"/>
          </a:xfrm>
          <a:prstGeom prst="rect">
            <a:avLst/>
          </a:prstGeom>
        </p:spPr>
      </p:pic>
      <p:pic>
        <p:nvPicPr>
          <p:cNvPr id="5" name="Image 1" descr="assets/fig07_cuisine_count_vs_r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394960" cy="34564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72200" y="5029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2–4 cuisines rate slightly higher than single-cuisine or overly broad menus.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Bites Dominate the Format Mix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Bangalore's dining culture favors convenience</a:t>
            </a:r>
            <a:endParaRPr lang="en-US" sz="1400" dirty="0"/>
          </a:p>
        </p:txBody>
      </p:sp>
      <p:pic>
        <p:nvPicPr>
          <p:cNvPr id="4" name="Image 0" descr="assets/fig08_restaurant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5120640" cy="3840480"/>
          </a:xfrm>
          <a:prstGeom prst="rect">
            <a:avLst/>
          </a:prstGeom>
        </p:spPr>
      </p:pic>
      <p:pic>
        <p:nvPicPr>
          <p:cNvPr id="5" name="Image 1" descr="assets/fig09_listed_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4564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Tracks (Loosely) With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for two: ₹555   |   Correlation with rating: r = 0.399</a:t>
            </a:r>
            <a:endParaRPr lang="en-US" sz="1400" dirty="0"/>
          </a:p>
        </p:txBody>
      </p:sp>
      <p:pic>
        <p:nvPicPr>
          <p:cNvPr id="4" name="Image 0" descr="assets/fig10_cost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10515600" cy="40416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Predicts Quality Better Than Price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vs. rating correlation: r = 0.434</a:t>
            </a:r>
            <a:endParaRPr lang="en-US" sz="1400" dirty="0"/>
          </a:p>
        </p:txBody>
      </p:sp>
      <p:pic>
        <p:nvPicPr>
          <p:cNvPr id="4" name="Image 0" descr="assets/fig11_votes_vs_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1696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8288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5F2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21031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Well-loved restaurants accumulate votes over time — a reinforcing cycle of quality and popularity.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Low-vote restaurants show much higher rating volatility.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and cost are the strongest numeric predictors of rating</a:t>
            </a:r>
            <a:endParaRPr lang="en-US" sz="1400" dirty="0"/>
          </a:p>
        </p:txBody>
      </p:sp>
      <p:pic>
        <p:nvPicPr>
          <p:cNvPr id="4" name="Image 0" descr="assets/fig12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417320"/>
            <a:ext cx="5029200" cy="3771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233B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table booking; treat online ordering as baseline; keep menus to 2–4 complementary cuisines; consider high-rated, lower-density localities for expansion.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159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691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/ Platforms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vote count in ranking algorithms; flag low-review restaurants for rating confidence; support differentiation in saturated hubs.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7438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1691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20440" cy="3520440"/>
          </a:xfrm>
          <a:prstGeom prst="roundRect">
            <a:avLst>
              <a:gd name="adj" fmla="val 155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606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table-booking-enabled formats in high-rated micro-markets over the most saturated quick-bite segments.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8306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200400" cy="3200400"/>
          </a:xfrm>
          <a:prstGeom prst="ellipse">
            <a:avLst/>
          </a:prstGeom>
          <a:solidFill>
            <a:srgbClr val="159C93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 |   Full report, code and data available alongside this deck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2026-09-15T08:28:55Z</dcterms:created>
  <dcterms:modified xsi:type="dcterms:W3CDTF">2026-09-15T08:28:55Z</dcterms:modified>
</cp:coreProperties>
</file>